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5" r:id="rId3"/>
    <p:sldId id="286" r:id="rId4"/>
    <p:sldId id="284" r:id="rId5"/>
    <p:sldId id="289" r:id="rId6"/>
    <p:sldId id="294" r:id="rId7"/>
  </p:sldIdLst>
  <p:sldSz cx="18288000" cy="10287000"/>
  <p:notesSz cx="6858000" cy="9144000"/>
  <p:embeddedFontLst>
    <p:embeddedFont>
      <p:font typeface="Aileron" panose="020B0604020202020204" charset="0"/>
      <p:regular r:id="rId8"/>
    </p:embeddedFont>
    <p:embeddedFont>
      <p:font typeface="Akzidenz-Grotesk Heavy" panose="020B0604020202020204" charset="0"/>
      <p:regular r:id="rId9"/>
    </p:embeddedFont>
    <p:embeddedFont>
      <p:font typeface="Canva Sans Bold" panose="020B0604020202020204" charset="0"/>
      <p:regular r:id="rId10"/>
    </p:embeddedFon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Lato Bold" panose="020F0502020204030203" charset="0"/>
      <p:regular r:id="rId15"/>
    </p:embeddedFont>
    <p:embeddedFont>
      <p:font typeface="Open Sauc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3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7763" y="260224"/>
            <a:ext cx="722102" cy="10026776"/>
            <a:chOff x="0" y="0"/>
            <a:chExt cx="248964" cy="1869420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48964" cy="1869420"/>
            </a:xfrm>
            <a:custGeom>
              <a:avLst/>
              <a:gdLst/>
              <a:ahLst/>
              <a:cxnLst/>
              <a:rect l="l" t="t" r="r" b="b"/>
              <a:pathLst>
                <a:path w="248964" h="1869420">
                  <a:moveTo>
                    <a:pt x="0" y="0"/>
                  </a:moveTo>
                  <a:lnTo>
                    <a:pt x="248964" y="0"/>
                  </a:lnTo>
                  <a:lnTo>
                    <a:pt x="248964" y="1869420"/>
                  </a:lnTo>
                  <a:lnTo>
                    <a:pt x="0" y="1869420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48964" cy="192657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103481" y="-437854"/>
            <a:ext cx="2477360" cy="2725964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547646" y="239709"/>
            <a:ext cx="1603319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t>COURSE PROJECT PRESENTATION - 2026-27</a:t>
            </a:r>
            <a:endParaRPr lang="en-US" sz="27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753840" y="1275561"/>
            <a:ext cx="1158115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  <a:defRPr sz="2400" b="1">
                <a:latin typeface="Canva Sans Bold"/>
              </a:defRPr>
            </a:pPr>
            <a:r>
              <a:t>Project Title :- HOSPITAL EMERGENCY TRIAGE &amp; ACUITY MANAGEMENT SYSTEM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18517" y="3510877"/>
            <a:ext cx="1607812" cy="49872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  <a:defRPr sz="2800"/>
            </a:pPr>
            <a:r>
              <a:rPr dirty="0"/>
              <a:t>DIV :- CS</a:t>
            </a:r>
            <a:r>
              <a:rPr lang="en-US" dirty="0"/>
              <a:t>-E </a:t>
            </a:r>
            <a:endParaRPr dirty="0"/>
          </a:p>
        </p:txBody>
      </p:sp>
      <p:sp>
        <p:nvSpPr>
          <p:cNvPr id="20" name="TextBox 20"/>
          <p:cNvSpPr txBox="1"/>
          <p:nvPr/>
        </p:nvSpPr>
        <p:spPr>
          <a:xfrm>
            <a:off x="6116836" y="3510877"/>
            <a:ext cx="3027164" cy="49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  <a:defRPr sz="2800"/>
            </a:pPr>
            <a:r>
              <a:rPr dirty="0"/>
              <a:t>GROUP :- 1</a:t>
            </a:r>
            <a:r>
              <a:rPr lang="en-US" dirty="0"/>
              <a:t>8</a:t>
            </a:r>
            <a:endParaRPr lang="en-US" sz="3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431903" y="3510877"/>
            <a:ext cx="2661166" cy="49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  <a:defRPr sz="2800"/>
            </a:pPr>
            <a:r>
              <a:t>Day - Monday</a:t>
            </a:r>
            <a:endParaRPr lang="en-US" sz="3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836019" y="3510877"/>
            <a:ext cx="3483293" cy="49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  <a:defRPr sz="2800"/>
            </a:pPr>
            <a:r>
              <a:t>Date - 28/09/2026</a:t>
            </a:r>
            <a:endParaRPr lang="en-US" sz="3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33533" y="4863783"/>
            <a:ext cx="6400800" cy="164592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defRPr sz="2400" b="1">
                <a:latin typeface="Lato Bold"/>
              </a:defRPr>
            </a:pPr>
            <a:r>
              <a:t>Presented by :-</a:t>
            </a:r>
          </a:p>
          <a:p>
            <a:pPr>
              <a:defRPr sz="1900" b="0">
                <a:latin typeface="Lato"/>
              </a:defRPr>
            </a:pPr>
            <a:r>
              <a:t>1) Rishabh Joshi (1251070307)</a:t>
            </a:r>
          </a:p>
          <a:p>
            <a:pPr>
              <a:defRPr sz="1900" b="0">
                <a:latin typeface="Lato"/>
              </a:defRPr>
            </a:pPr>
            <a:r>
              <a:t>2) Ujjwal Jain (1251071062)</a:t>
            </a:r>
          </a:p>
          <a:p>
            <a:pPr>
              <a:defRPr sz="1900" b="0">
                <a:latin typeface="Lato"/>
              </a:defRPr>
            </a:pPr>
            <a:r>
              <a:t>3) Shubham Kale (1251071039)</a:t>
            </a:r>
          </a:p>
          <a:p>
            <a:pPr>
              <a:defRPr sz="1900" b="0">
                <a:latin typeface="Lato"/>
              </a:defRPr>
            </a:pPr>
            <a:r>
              <a:t>4) Harshad Mahadik (1251071041)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06820" y="4863783"/>
            <a:ext cx="4572000" cy="1371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defRPr sz="2400" b="1">
                <a:latin typeface="Lato Bold"/>
              </a:defRPr>
            </a:pPr>
            <a:endParaRPr/>
          </a:p>
          <a:p>
            <a:pPr>
              <a:defRPr sz="2200" b="0">
                <a:latin typeface="Lato"/>
              </a:defRPr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321850" y="6560198"/>
            <a:ext cx="16972012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  <a:spcBef>
                <a:spcPct val="0"/>
              </a:spcBef>
            </a:pPr>
            <a:r>
              <a:rPr lang="en-US" sz="3366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DEPARTMENT OF COMPUTER SCIENCE ENGINEERING (ARTIFICIAL INTELLIGENCE </a:t>
            </a:r>
            <a:r>
              <a:rPr lang="en-US" sz="3366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31829" y="7960717"/>
            <a:ext cx="11107370" cy="1137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VISHWAKARMA INSTITUTE OF TECHNOLOGY,PUNE</a:t>
            </a:r>
          </a:p>
        </p:txBody>
      </p:sp>
      <p:sp>
        <p:nvSpPr>
          <p:cNvPr id="28" name="AutoShape 10"/>
          <p:cNvSpPr/>
          <p:nvPr/>
        </p:nvSpPr>
        <p:spPr>
          <a:xfrm flipV="1">
            <a:off x="839865" y="9835406"/>
            <a:ext cx="15414335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9" name="Freeform 18"/>
          <p:cNvSpPr/>
          <p:nvPr/>
        </p:nvSpPr>
        <p:spPr>
          <a:xfrm>
            <a:off x="16376664" y="9462451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AutoShape 11"/>
          <p:cNvSpPr/>
          <p:nvPr/>
        </p:nvSpPr>
        <p:spPr>
          <a:xfrm flipH="1">
            <a:off x="17295866" y="2965673"/>
            <a:ext cx="23446" cy="6330281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1" name="AutoShape 16"/>
          <p:cNvSpPr/>
          <p:nvPr/>
        </p:nvSpPr>
        <p:spPr>
          <a:xfrm>
            <a:off x="1547646" y="727022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723107" y="900442"/>
            <a:ext cx="14173200" cy="119468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0248"/>
              </a:lnSpc>
              <a:spcBef>
                <a:spcPct val="0"/>
              </a:spcBef>
              <a:defRPr sz="4600" b="1">
                <a:solidFill>
                  <a:srgbClr val="051D40"/>
                </a:solidFill>
                <a:latin typeface="Open Sans Extra Bold"/>
              </a:defRPr>
            </a:pPr>
            <a:r>
              <a:t>Introduction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</p:sp>
      <p:sp>
        <p:nvSpPr>
          <p:cNvPr id="15" name="Freeform 10"/>
          <p:cNvSpPr/>
          <p:nvPr/>
        </p:nvSpPr>
        <p:spPr>
          <a:xfrm>
            <a:off x="14964051" y="1"/>
            <a:ext cx="2477360" cy="2095128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1828800" y="2651760"/>
            <a:ext cx="1536192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  <a:defRPr sz="2300">
                <a:solidFill>
                  <a:srgbClr val="1E293B"/>
                </a:solidFill>
                <a:latin typeface="Calibri"/>
              </a:defRPr>
            </a:pPr>
            <a:r>
              <a:t>•  Preparing for and managing emergency department admissions is life-critical, as hospitals face constant, unpredictable patient surges with high clinical variance.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2300">
                <a:solidFill>
                  <a:srgbClr val="1E293B"/>
                </a:solidFill>
                <a:latin typeface="Calibri"/>
              </a:defRPr>
            </a:pPr>
            <a:r>
              <a:t>•  Traditional hospital queuing relies on First-In, First-Out (FIFO) scheduling, which is fatal in emergency care: an acute cardiac arrest patient cannot wait behind a minor ankle sprain.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2300">
                <a:solidFill>
                  <a:srgbClr val="1E293B"/>
                </a:solidFill>
                <a:latin typeface="Calibri"/>
              </a:defRPr>
            </a:pPr>
            <a:r>
              <a:t>•  Furthermore, conventional emergency intake depends on subjective manual paper sheets, which are prone to nursing fatigue, evaluator variance, and failure to detect silent deterioration in waiting halls.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2300">
                <a:solidFill>
                  <a:srgbClr val="1E293B"/>
                </a:solidFill>
                <a:latin typeface="Calibri"/>
              </a:defRPr>
            </a:pPr>
            <a:r>
              <a:t>•  To resolve this, our Hospital Emergency Triage System automates clinical vital-sign scoring (Heart Rate, Blood Pressure, SpO2) and priority queuing using pure Object-Oriented Programming (OOPS) in C++.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723107" y="900442"/>
            <a:ext cx="14173200" cy="119468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0248"/>
              </a:lnSpc>
              <a:spcBef>
                <a:spcPct val="0"/>
              </a:spcBef>
              <a:defRPr sz="4600" b="1">
                <a:solidFill>
                  <a:srgbClr val="051D40"/>
                </a:solidFill>
                <a:latin typeface="Open Sans Extra Bold"/>
              </a:defRPr>
            </a:pPr>
            <a:r>
              <a:t>Objectives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</p:sp>
      <p:sp>
        <p:nvSpPr>
          <p:cNvPr id="15" name="Freeform 10"/>
          <p:cNvSpPr/>
          <p:nvPr/>
        </p:nvSpPr>
        <p:spPr>
          <a:xfrm>
            <a:off x="14964051" y="1"/>
            <a:ext cx="2477360" cy="2095128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1828800" y="2651760"/>
            <a:ext cx="1536192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  <a:defRPr sz="2300">
                <a:solidFill>
                  <a:srgbClr val="1E293B"/>
                </a:solidFill>
                <a:latin typeface="Calibri"/>
              </a:defRPr>
            </a:pPr>
            <a:r>
              <a:rPr dirty="0"/>
              <a:t>•  To engineer an automated, vitals-based Emergency Triage System in C++ based on standard Emergency Severity Index (ESI) clinical acuity rules.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2300">
                <a:solidFill>
                  <a:srgbClr val="1E293B"/>
                </a:solidFill>
                <a:latin typeface="Calibri"/>
              </a:defRPr>
            </a:pPr>
            <a:r>
              <a:rPr dirty="0"/>
              <a:t>•  To strictly apply core Object-Oriented Programming (OOPS) paradigms: Encapsulation (Vitals), Hierarchical Inheritance (Person -&gt; Patient -&gt; Specialized), and Runtime Polymorphism.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2300">
                <a:solidFill>
                  <a:srgbClr val="1E293B"/>
                </a:solidFill>
                <a:latin typeface="Calibri"/>
              </a:defRPr>
            </a:pPr>
            <a:r>
              <a:rPr dirty="0"/>
              <a:t>•  To build a Priority Queue engine using Operator Overloading (&lt;) that automatically ranks patients by urgency (Critical Red, Urgent Yellow, Normal Green) with deterministic FIFO tie-breaking.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2300">
                <a:solidFill>
                  <a:srgbClr val="1E293B"/>
                </a:solidFill>
                <a:latin typeface="Calibri"/>
              </a:defRPr>
            </a:pPr>
            <a:r>
              <a:t>•  To implement a Dynamic Clinical Re-Triage loop that monitors waiting patients and automatically promotes deteriorating cases straight to the top of the 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04800" y="9944100"/>
            <a:ext cx="15392400" cy="7620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0"/>
          <p:cNvSpPr/>
          <p:nvPr/>
        </p:nvSpPr>
        <p:spPr>
          <a:xfrm>
            <a:off x="14964051" y="1"/>
            <a:ext cx="2477360" cy="1333499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</p:sp>
      <p:grpSp>
        <p:nvGrpSpPr>
          <p:cNvPr id="20" name="Group 3"/>
          <p:cNvGrpSpPr/>
          <p:nvPr/>
        </p:nvGrpSpPr>
        <p:grpSpPr>
          <a:xfrm>
            <a:off x="0" y="769076"/>
            <a:ext cx="685802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21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</p:sp>
        <p:sp>
          <p:nvSpPr>
            <p:cNvPr id="22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369695" y="0"/>
            <a:ext cx="5253362" cy="8769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ts val="673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Literature Survey</a:t>
            </a:r>
          </a:p>
        </p:txBody>
      </p:sp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7255246C-0B60-7E90-B4BC-E71B3A8BD3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1556775"/>
              </p:ext>
            </p:extLst>
          </p:nvPr>
        </p:nvGraphicFramePr>
        <p:xfrm>
          <a:off x="1028700" y="1691640"/>
          <a:ext cx="16412711" cy="594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30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634">
                  <a:extLst>
                    <a:ext uri="{9D8B030D-6E8A-4147-A177-3AD203B41FA5}">
                      <a16:colId xmlns:a16="http://schemas.microsoft.com/office/drawing/2014/main" val="3670930075"/>
                    </a:ext>
                  </a:extLst>
                </a:gridCol>
                <a:gridCol w="2850360">
                  <a:extLst>
                    <a:ext uri="{9D8B030D-6E8A-4147-A177-3AD203B41FA5}">
                      <a16:colId xmlns:a16="http://schemas.microsoft.com/office/drawing/2014/main" val="1292415790"/>
                    </a:ext>
                  </a:extLst>
                </a:gridCol>
                <a:gridCol w="2945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2276">
                  <a:extLst>
                    <a:ext uri="{9D8B030D-6E8A-4147-A177-3AD203B41FA5}">
                      <a16:colId xmlns:a16="http://schemas.microsoft.com/office/drawing/2014/main" val="702408066"/>
                    </a:ext>
                  </a:extLst>
                </a:gridCol>
                <a:gridCol w="2103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 err="1">
                          <a:solidFill>
                            <a:srgbClr val="002060"/>
                          </a:solidFill>
                        </a:rPr>
                        <a:t>Sr.No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Author &amp; Year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Title of Paper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Publisher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Techniques used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Findings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Research gap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Dr. Richard Gilboy et al. (2023)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Emergency Severity Index: A Triage Tool for Emergency Care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AHRQ / Ann. Emerg. Med.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5-level decision tree evaluating life threats, danger vitals &amp; resources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Standardized acuity levels reduced undertriage rates by 38% in emergency wards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Relied on initial intake; lacked automated re-triage when patients deteriorate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K. Mackway-Jones et al. (2024)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The Manchester Triage System in Acute Clinical Practice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BMJ Emerg. Med. J.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Flowchart-based discriminator matrices mapping symptoms to color targets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Enforcing time targets (Immediate 0 min, Urgent 10 min) reduced mortality by 26%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Manual flowcharts are rigid during mass casualties and prone to subjective variance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S. Patel &amp; M. Chen (2024)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Algorithmic Prioritization in Healthcare Queuing Systems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IEEE Trans. Auto. Sci. Eng.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Priority queue models with non-preemptive disciplines and FIFO 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Priority sorting reduced critical patient wait times by 52% vs standard queuing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Evaluated theoretical models without domain-specific C++ OOP clinical entities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933586"/>
                  </a:ext>
                </a:extLst>
              </a:tr>
            </a:tbl>
          </a:graphicData>
        </a:graphic>
      </p:graphicFrame>
      <p:sp>
        <p:nvSpPr>
          <p:cNvPr id="24" name="AutoShape 16"/>
          <p:cNvSpPr/>
          <p:nvPr/>
        </p:nvSpPr>
        <p:spPr>
          <a:xfrm>
            <a:off x="819362" y="571500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0363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723107" y="900442"/>
            <a:ext cx="14173200" cy="119468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0248"/>
              </a:lnSpc>
              <a:spcBef>
                <a:spcPct val="0"/>
              </a:spcBef>
              <a:defRPr sz="4600" b="1">
                <a:solidFill>
                  <a:srgbClr val="051D40"/>
                </a:solidFill>
                <a:latin typeface="Open Sans Extra Bold"/>
              </a:defRPr>
            </a:pPr>
            <a:r>
              <a:t>Design - System Architecture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Freeform 10"/>
          <p:cNvSpPr/>
          <p:nvPr/>
        </p:nvSpPr>
        <p:spPr>
          <a:xfrm>
            <a:off x="14964051" y="1"/>
            <a:ext cx="2477360" cy="2095128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0" y="26517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51D40"/>
                </a:solidFill>
                <a:latin typeface="Open Sans Extra Bold"/>
              </a:defRPr>
            </a:pPr>
            <a:r>
              <a:t>Working of the Hospital Emergency Triage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6900" y="2571381"/>
            <a:ext cx="499688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1D40"/>
                </a:solidFill>
                <a:latin typeface="Open Sans Extra Bold"/>
              </a:defRPr>
            </a:pPr>
            <a:r>
              <a:rPr lang="en-IN" dirty="0"/>
              <a:t>Live Emergency Queue Dashboard</a:t>
            </a:r>
          </a:p>
        </p:txBody>
      </p:sp>
      <p:pic>
        <p:nvPicPr>
          <p:cNvPr id="23" name="Picture 22" descr="diagram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200400"/>
            <a:ext cx="6858000" cy="6057900"/>
          </a:xfrm>
          <a:prstGeom prst="rect">
            <a:avLst/>
          </a:prstGeom>
        </p:spPr>
      </p:pic>
      <p:pic>
        <p:nvPicPr>
          <p:cNvPr id="13" name="Picture 12" descr="diagram_4.png">
            <a:extLst>
              <a:ext uri="{FF2B5EF4-FFF2-40B4-BE49-F238E27FC236}">
                <a16:creationId xmlns:a16="http://schemas.microsoft.com/office/drawing/2014/main" id="{AC51A348-5195-6355-16AD-D31FB5CAC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2" y="3388670"/>
            <a:ext cx="7315200" cy="5183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723107" y="900442"/>
            <a:ext cx="14173200" cy="119468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0248"/>
              </a:lnSpc>
              <a:spcBef>
                <a:spcPct val="0"/>
              </a:spcBef>
              <a:defRPr sz="4600" b="1">
                <a:solidFill>
                  <a:srgbClr val="051D40"/>
                </a:solidFill>
                <a:latin typeface="Open Sans Extra Bold"/>
              </a:defRPr>
            </a:pPr>
            <a:r>
              <a:t>Conclusion &amp; Future Scope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</p:sp>
      <p:sp>
        <p:nvSpPr>
          <p:cNvPr id="15" name="Freeform 10"/>
          <p:cNvSpPr/>
          <p:nvPr/>
        </p:nvSpPr>
        <p:spPr>
          <a:xfrm>
            <a:off x="14964051" y="1"/>
            <a:ext cx="2477360" cy="2095128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1828800" y="2651760"/>
            <a:ext cx="1536192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•  Conclusion: The Hospital Emergency Triage System bridges the critical gap between static ticketing and life-saving clinical prioritization, delivering an automated, objective, and deterministic triage engine in C++.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•  Clinical Efficacy: Automated vital sign evaluation eliminates nurse cognitive fatigue and guarantees immediate medical intervention for critical cases within the Golden Hour.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•  Dynamic Queue Safety: Automated queue re-indexing upon vital signs deterioration completely eliminates the hazard of silent waiting room decompensation.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•  Future Scope - Doctor &amp; Bed Allocation: Automatically matching specialist physicians (Cardiologists, Trauma Surgeons) and tracking vacant Resuscitation and ICU beds.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•  Future Scope - STAT Diagnostic Orders &amp; Telemetry: Integrating automated emergency CT scan/ECG order entries and real-time wireless patient monitor telemetry feeds.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669</Words>
  <Application>Microsoft Office PowerPoint</Application>
  <PresentationFormat>Custom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Times New Roman</vt:lpstr>
      <vt:lpstr>Lato Bold</vt:lpstr>
      <vt:lpstr>Akzidenz-Grotesk Heavy</vt:lpstr>
      <vt:lpstr>Open Sauce</vt:lpstr>
      <vt:lpstr>Canva Sans Bold</vt:lpstr>
      <vt:lpstr>Arial</vt:lpstr>
      <vt:lpstr>Lato</vt:lpstr>
      <vt:lpstr>Calibri</vt:lpstr>
      <vt:lpstr>Aileron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Admin</dc:creator>
  <cp:lastModifiedBy>rishabh joshi</cp:lastModifiedBy>
  <cp:revision>27</cp:revision>
  <dcterms:created xsi:type="dcterms:W3CDTF">2006-08-16T00:00:00Z</dcterms:created>
  <dcterms:modified xsi:type="dcterms:W3CDTF">2026-09-28T06:29:09Z</dcterms:modified>
  <dc:identifier>DAGOaE9SXNE</dc:identifier>
</cp:coreProperties>
</file>